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712" autoAdjust="0"/>
  </p:normalViewPr>
  <p:slideViewPr>
    <p:cSldViewPr snapToGrid="0" snapToObjects="1">
      <p:cViewPr varScale="1">
        <p:scale>
          <a:sx n="72" d="100"/>
          <a:sy n="72" d="100"/>
        </p:scale>
        <p:origin x="10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11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Professor and classmates. My final presentation covers two parts: first, my GitHub repository and coursework evidence; second, my research proposal on inflation targeting and financial stability using a data science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public GitHub profile and course repository. I organized the repository so the professor can easily review my coursework evidence, outputs, and the full research proposal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main repository structure. I have assignment folders and a separate Research_Proposal folder. Each assignment folder contains the key files needed to understand and reproduce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live demo I would use Assignment 5 because it is a clear example of my latest AI work. It includes the notebook, dataset, report, README, and outputs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Inflation targeting is designed to stabilize inflation, but financial stability is broader. A country can have stable inflation but still face banking risk, rapid credit growth, or exchange-rate volatility. My study addresses this by using four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gap is not only that the literature is mixed. The deeper problem is that financial stability is multidimensional, countries differ, and traditional methods may miss nonlinear or classification-based risk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is straightforward. The research questions are finance-first, and the AI questions explain how I will analyze the data using classification, clustering, and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not describe each paper separately. I group the literature into foundations, supportive findings, cautionary findings, and context. The important takeaway is that results are mixed, so my proposal needs a balanced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shows the logic of the study. Data are processed in Python, a risk label is created from four indicators, and the study uses both supervised classification and unsupervised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of analysis is a country-year. I will collect secondary macro-financial data, create the risk label, train classification models, and use clustering to identify profiles. I will also use leakage control and careful non-causal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close by summarizing the contribution. Academically, the study links inflation targeting and financial stability with machine learning risk classification. Practically, it supports macro-financial risk screening. Methodologically, it creates a reproducible Python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al_abstract_financial_tech_bac.png"/>
          <p:cNvPicPr>
            <a:picLocks noChangeAspect="1"/>
          </p:cNvPicPr>
          <p:nvPr/>
        </p:nvPicPr>
        <p:blipFill>
          <a:blip r:embed="rId3"/>
          <a:srcRect l="45000" r="8625"/>
          <a:stretch/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217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400" b="1">
                <a:solidFill>
                  <a:srgbClr val="0096A0"/>
                </a:solidFill>
                <a:latin typeface="Aptos"/>
              </a:defRPr>
            </a:pPr>
            <a:r>
              <a:t>STAGE 3 FINAL PRESENTATION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1115568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  <a:defRPr sz="4000" b="1">
                <a:solidFill>
                  <a:srgbClr val="122D4C"/>
                </a:solidFill>
                <a:latin typeface="Aptos"/>
              </a:defRPr>
            </a:pPr>
            <a:r>
              <a:t>GitHub Portfolio</a:t>
            </a:r>
            <a:endParaRPr lang="en-US" sz="3600" dirty="0"/>
          </a:p>
          <a:p>
            <a:pPr algn="l">
              <a:defRPr sz="4000" b="1">
                <a:solidFill>
                  <a:srgbClr val="122D4C"/>
                </a:solidFill>
                <a:latin typeface="Aptos"/>
              </a:defRPr>
            </a:pPr>
            <a:r>
              <a:t>&amp; Research Proposal</a:t>
            </a:r>
          </a:p>
        </p:txBody>
      </p:sp>
      <p:sp>
        <p:nvSpPr>
          <p:cNvPr id="5" name="Text 2"/>
          <p:cNvSpPr/>
          <p:nvPr/>
        </p:nvSpPr>
        <p:spPr>
          <a:xfrm>
            <a:off x="704088" y="26974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500" b="0">
                <a:solidFill>
                  <a:srgbClr val="576574"/>
                </a:solidFill>
                <a:latin typeface="Aptos"/>
              </a:defRPr>
            </a:pPr>
            <a:r>
              <a:t>Research topic: Inflation Targeting and Financial Stability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4088" y="30906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500" b="0">
                <a:solidFill>
                  <a:srgbClr val="576574"/>
                </a:solidFill>
                <a:latin typeface="Aptos"/>
              </a:defRPr>
            </a:pPr>
            <a:r>
              <a:t>Selected Emerging and Developed Economies, 1995–2022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4112" y="3703319"/>
            <a:ext cx="1870480" cy="329183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  <a:defRPr sz="1400" b="1">
                <a:solidFill>
                  <a:srgbClr val="122D4C"/>
                </a:solidFill>
                <a:latin typeface="Aptos"/>
              </a:defRPr>
            </a:pPr>
            <a:r>
              <a:rPr dirty="0"/>
              <a:t>5-minute</a:t>
            </a:r>
            <a:r>
              <a:rPr lang="en-CA" dirty="0"/>
              <a:t> </a:t>
            </a:r>
            <a:r>
              <a:rPr dirty="0"/>
              <a:t>presentation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95832" y="3703320"/>
            <a:ext cx="1554480" cy="329184"/>
          </a:xfrm>
          <a:prstGeom prst="rect">
            <a:avLst/>
          </a:prstGeom>
          <a:solidFill>
            <a:srgbClr val="E8F7F6"/>
          </a:solidFill>
          <a:ln>
            <a:solidFill>
              <a:srgbClr val="E8F7F6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  <a:defRPr sz="1400" b="1">
                <a:solidFill>
                  <a:srgbClr val="122D4C"/>
                </a:solidFill>
                <a:latin typeface="Aptos"/>
              </a:defRPr>
            </a:pPr>
            <a:r>
              <a:rPr dirty="0"/>
              <a:t>GitHub + Proposal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" y="4818888"/>
            <a:ext cx="4389120" cy="0"/>
          </a:xfrm>
          <a:prstGeom prst="line">
            <a:avLst/>
          </a:prstGeom>
          <a:noFill/>
          <a:ln w="1524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13232" y="5029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500" b="1">
                <a:solidFill>
                  <a:srgbClr val="122D4C"/>
                </a:solidFill>
                <a:latin typeface="Aptos"/>
              </a:defRPr>
            </a:pPr>
            <a:r>
              <a:t>Prabaseelan Vettivelu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3232" y="54132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200" b="0">
                <a:solidFill>
                  <a:srgbClr val="576574"/>
                </a:solidFill>
                <a:latin typeface="Aptos"/>
              </a:defRPr>
            </a:pPr>
            <a:r>
              <a:rPr dirty="0"/>
              <a:t>MBAI 5310G – AI Programming · Instructor: Zahra </a:t>
            </a:r>
            <a:r>
              <a:rPr dirty="0" err="1"/>
              <a:t>Atf</a:t>
            </a:r>
            <a:r>
              <a:rPr dirty="0"/>
              <a:t> · June 2026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713232" y="5897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200" b="0">
                <a:solidFill>
                  <a:srgbClr val="576574"/>
                </a:solidFill>
                <a:latin typeface="Aptos"/>
              </a:defRPr>
            </a:pPr>
            <a:r>
              <a:t>Goal: show GitHub evidence first, then proposal topic, gap, method and contribution.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8872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6A0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22D4C"/>
                </a:solidFill>
                <a:latin typeface="Aptos Display"/>
              </a:defRPr>
            </a:pPr>
            <a:r>
              <a:rPr dirty="0"/>
              <a:t>GitHub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063238"/>
            <a:ext cx="8219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76574"/>
                </a:solidFill>
                <a:latin typeface="Aptos"/>
              </a:defRPr>
            </a:pPr>
            <a:r>
              <a:rPr dirty="0"/>
              <a:t>Repository organization, coursework evidence, and reproducibility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23774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200" b="1">
                <a:solidFill>
                  <a:srgbClr val="E0E8F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76574"/>
                </a:solidFill>
                <a:latin typeface="Aptos"/>
              </a:defRPr>
            </a:pPr>
            <a:r>
              <a:t>MBAI 5310G · AI Programming · Prabaseelan Vettivelu</a:t>
            </a:r>
          </a:p>
        </p:txBody>
      </p:sp>
    </p:spTree>
    <p:extLst>
      <p:ext uri="{BB962C8B-B14F-4D97-AF65-F5344CB8AC3E}">
        <p14:creationId xmlns:p14="http://schemas.microsoft.com/office/powerpoint/2010/main" val="86872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PORTFOLIO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Repository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086600" y="1481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REPOSITORY DEMONSTRATES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1810512"/>
            <a:ext cx="42976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2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course repository </a:t>
            </a:r>
            <a:r>
              <a:rPr lang="en-US" sz="142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MBAI 5310G – AI Programming</a:t>
            </a:r>
          </a:p>
          <a:p>
            <a:pPr marL="139700" indent="-139700">
              <a:buSzPct val="100000"/>
              <a:buChar char="•"/>
            </a:pPr>
            <a:r>
              <a:rPr lang="en-US" sz="142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folders, README documentation, reports and outputs</a:t>
            </a:r>
            <a:endParaRPr lang="en-US" sz="1420" dirty="0"/>
          </a:p>
          <a:p>
            <a:pPr marL="139700" indent="-139700">
              <a:buSzPct val="100000"/>
              <a:buChar char="•"/>
            </a:pPr>
            <a:r>
              <a:rPr lang="en-US" sz="142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reproducibility, organization and responsible academic data use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7086600" y="42519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5A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086600" y="4782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commits</a:t>
            </a:r>
            <a:endParaRPr lang="en-US" sz="1100" b="1" dirty="0"/>
          </a:p>
        </p:txBody>
      </p:sp>
      <p:sp>
        <p:nvSpPr>
          <p:cNvPr id="10" name="Text 7"/>
          <p:cNvSpPr/>
          <p:nvPr/>
        </p:nvSpPr>
        <p:spPr>
          <a:xfrm>
            <a:off x="8275320" y="42519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75320" y="4782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coursework folders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738360" y="4251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738360" y="4782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folder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59168" y="56235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path: Main repo → Research_Proposal → Stage 2 proposal → conceptual framework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784DC8-C50F-4D9E-8B45-57320D308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63" y="1645921"/>
            <a:ext cx="6747748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PORTFOLIO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Repository structure and 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/mnt/data/image(206).png"/>
          <p:cNvPicPr>
            <a:picLocks noChangeAspect="1"/>
          </p:cNvPicPr>
          <p:nvPr/>
        </p:nvPicPr>
        <p:blipFill>
          <a:blip r:embed="rId3"/>
          <a:srcRect l="2000" t="2000" r="29981" b="14000"/>
          <a:stretch/>
        </p:blipFill>
        <p:spPr>
          <a:xfrm>
            <a:off x="5623560" y="1244168"/>
            <a:ext cx="59893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organization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3232" y="1828800"/>
            <a:ext cx="457200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6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Assignment_2 — end-to-end ML pipeline</a:t>
            </a:r>
            <a:endParaRPr lang="en-US" sz="1600" dirty="0"/>
          </a:p>
          <a:p>
            <a:pPr marL="139700" indent="-139700">
              <a:buSzPct val="100000"/>
              <a:buChar char="•"/>
            </a:pPr>
            <a:r>
              <a:rPr lang="en-US" sz="16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Assignment_3 — Logistic Regression vs SVM</a:t>
            </a:r>
            <a:endParaRPr lang="en-US" sz="1600" dirty="0"/>
          </a:p>
          <a:p>
            <a:pPr marL="139700" indent="-139700">
              <a:buSzPct val="100000"/>
              <a:buChar char="•"/>
            </a:pPr>
            <a:r>
              <a:rPr lang="en-US" sz="16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Assignment_4_FitLife — Decision Tree risk prediction</a:t>
            </a:r>
            <a:endParaRPr lang="en-US" sz="1600" dirty="0"/>
          </a:p>
          <a:p>
            <a:pPr marL="139700" indent="-139700">
              <a:buSzPct val="100000"/>
              <a:buChar char="•"/>
            </a:pPr>
            <a:r>
              <a:rPr lang="en-US" sz="16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Assignment_4_FreshBasket — churn prediction</a:t>
            </a:r>
            <a:endParaRPr lang="en-US" sz="1600" dirty="0"/>
          </a:p>
          <a:p>
            <a:pPr marL="139700" indent="-139700">
              <a:buSzPct val="100000"/>
              <a:buChar char="•"/>
            </a:pPr>
            <a:r>
              <a:rPr lang="en-US" sz="16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Assignment_5 — K-means clustering</a:t>
            </a:r>
            <a:endParaRPr lang="en-US" sz="1600" dirty="0"/>
          </a:p>
          <a:p>
            <a:pPr marL="139700" indent="-139700">
              <a:buSzPct val="100000"/>
              <a:buChar char="•"/>
            </a:pPr>
            <a:r>
              <a:rPr lang="en-US" sz="16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Research_Proposal — Stage 1, Stage 2, framework and slides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47091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assignment folder includes: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· Dataset · README · Report · Outputs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makes the repository easy to navigate and reproduce.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PORTFOLIO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Example assignment evidence: Assignment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114032" y="1417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 WOULD SHOW ASSIGNMENT 5 LIVE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14032" y="1737360"/>
            <a:ext cx="42062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assignment using </a:t>
            </a:r>
            <a:r>
              <a:rPr lang="en-US" sz="138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learning</a:t>
            </a:r>
            <a:endParaRPr lang="en-US" sz="1380" b="1" dirty="0"/>
          </a:p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Notebook, dataset, report, README and outputs are visible</a:t>
            </a:r>
            <a:endParaRPr lang="en-US" sz="1380" dirty="0"/>
          </a:p>
          <a:p>
            <a:pPr marL="139700" indent="-139700">
              <a:buSzPct val="100000"/>
              <a:buChar char="•"/>
            </a:pPr>
            <a:r>
              <a:rPr lang="en-US" sz="138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clustering and PCA</a:t>
            </a: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align with the final proposal methodology</a:t>
            </a:r>
            <a:endParaRPr lang="en-US" sz="1380" dirty="0"/>
          </a:p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interpretation and responsible AI reflection are documented</a:t>
            </a:r>
            <a:endParaRPr lang="en-US" sz="1380" dirty="0"/>
          </a:p>
        </p:txBody>
      </p:sp>
      <p:sp>
        <p:nvSpPr>
          <p:cNvPr id="8" name="Text 5"/>
          <p:cNvSpPr/>
          <p:nvPr/>
        </p:nvSpPr>
        <p:spPr>
          <a:xfrm>
            <a:off x="7114032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14032" y="4462272"/>
            <a:ext cx="4160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folder shows my AI programming workflow from data preparation to clustering outputs and business interpretation.”</a:t>
            </a:r>
            <a:endParaRPr lang="en-US" sz="1430" dirty="0"/>
          </a:p>
        </p:txBody>
      </p:sp>
      <p:sp>
        <p:nvSpPr>
          <p:cNvPr id="10" name="Text 7"/>
          <p:cNvSpPr/>
          <p:nvPr/>
        </p:nvSpPr>
        <p:spPr>
          <a:xfrm>
            <a:off x="7114032" y="5577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part takeaway: the repo supports documentation, reproducibility and review.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0A0894-B767-CD54-42C5-6EBA7AB94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62" y="1392002"/>
            <a:ext cx="6674020" cy="3935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8872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6A0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22D4C"/>
                </a:solidFill>
                <a:latin typeface="Aptos Display"/>
              </a:defRPr>
            </a:pPr>
            <a:r>
              <a:t>Research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0632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76574"/>
                </a:solidFill>
                <a:latin typeface="Aptos"/>
              </a:defRPr>
            </a:pPr>
            <a:r>
              <a:t>Topic, gap, methodology, contribution, timeline, and 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23774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200" b="1">
                <a:solidFill>
                  <a:srgbClr val="E0E8F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76574"/>
                </a:solidFill>
                <a:latin typeface="Aptos"/>
              </a:defRPr>
            </a:pPr>
            <a:r>
              <a:t>MBAI 5310G · AI Programming · Prabaseelan Vettivelu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F3FBA-BF92-ACAC-3BEE-F3345BD5303C}"/>
              </a:ext>
            </a:extLst>
          </p:cNvPr>
          <p:cNvSpPr txBox="1"/>
          <p:nvPr/>
        </p:nvSpPr>
        <p:spPr>
          <a:xfrm>
            <a:off x="914400" y="3848986"/>
            <a:ext cx="694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Inflation Targeting and Financial Stability in Selected Emerging and Developed Economies, 1995–2022: A Data Science-Based Study Using Four Stability Indicators</a:t>
            </a:r>
            <a:endParaRPr lang="en-CA" dirty="0">
              <a:solidFill>
                <a:schemeClr val="accent1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115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Background and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topic matters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755648"/>
            <a:ext cx="5074920" cy="17327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targeting can improve </a:t>
            </a:r>
            <a:r>
              <a:rPr lang="en-US" sz="140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credibility, transparency and inflation expectations</a:t>
            </a:r>
            <a:endParaRPr lang="en-US" sz="1400" b="1" dirty="0"/>
          </a:p>
          <a:p>
            <a:pPr marL="139700" indent="-139700">
              <a:buSzPct val="100000"/>
              <a:buChar char="•"/>
            </a:pPr>
            <a:r>
              <a:rPr lang="en-US" sz="140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stability does not automatically guarantee financial stability</a:t>
            </a:r>
            <a:endParaRPr lang="en-US" sz="1400" b="1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stability includes banking, credit, exchange-rate and inflation pressures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3533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10528" y="1783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5A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relationship between inflation targeting and financial stability remains unclear.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32872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ONE INDICATOR IS NOT ENOUGH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0528" y="3429000"/>
            <a:ext cx="4389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34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studies find banking stability benefits</a:t>
            </a:r>
            <a:endParaRPr lang="en-US" sz="1340" dirty="0"/>
          </a:p>
          <a:p>
            <a:pPr marL="139700" indent="-139700">
              <a:buSzPct val="100000"/>
              <a:buChar char="•"/>
            </a:pPr>
            <a:r>
              <a:rPr lang="en-US" sz="134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 find credit booms, exchange-rate pressure or fragility</a:t>
            </a:r>
            <a:endParaRPr lang="en-US" sz="1340" dirty="0"/>
          </a:p>
          <a:p>
            <a:pPr marL="139700" indent="-139700">
              <a:buSzPct val="100000"/>
              <a:buChar char="•"/>
            </a:pPr>
            <a:r>
              <a:rPr lang="en-US" sz="134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proposal uses four financial-stability indicators to classify risk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804672" y="5010912"/>
            <a:ext cx="1417320" cy="329184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stability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5010912"/>
            <a:ext cx="1234440" cy="329184"/>
          </a:xfrm>
          <a:prstGeom prst="rect">
            <a:avLst/>
          </a:prstGeom>
          <a:solidFill>
            <a:srgbClr val="FFF4E7"/>
          </a:solidFill>
          <a:ln>
            <a:solidFill>
              <a:srgbClr val="FFF4E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growth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5010912"/>
            <a:ext cx="1920240" cy="329184"/>
          </a:xfrm>
          <a:prstGeom prst="rect">
            <a:avLst/>
          </a:prstGeom>
          <a:solidFill>
            <a:srgbClr val="E8F7F6"/>
          </a:solidFill>
          <a:ln>
            <a:solidFill>
              <a:srgbClr val="E8F7F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Exchange-rate volatility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5010912"/>
            <a:ext cx="1645920" cy="329184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volatility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554126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response: build a country-year risk label and use AI/data science to classify and interpret patterns.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Research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384048" cy="384048"/>
          </a:xfrm>
          <a:prstGeom prst="rect">
            <a:avLst/>
          </a:prstGeom>
          <a:solidFill>
            <a:srgbClr val="175A9D"/>
          </a:solidFill>
          <a:ln>
            <a:solidFill>
              <a:srgbClr val="175A9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3584" y="141732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evidence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3584" y="1728216"/>
            <a:ext cx="4544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studies do not agree whether inflation targeting is stabilizing or risky.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384048" cy="38404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54203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2852928"/>
            <a:ext cx="4544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studies focus on one channel instead of multiple stability indicators.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384048" cy="384048"/>
          </a:xfrm>
          <a:prstGeom prst="rect">
            <a:avLst/>
          </a:prstGeom>
          <a:solidFill>
            <a:srgbClr val="D9822B"/>
          </a:solidFill>
          <a:ln>
            <a:solidFill>
              <a:srgbClr val="D982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43584" y="367588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comparison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3986784"/>
            <a:ext cx="4544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 and developed economies differ in institutions and shock exposure.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384048" cy="384048"/>
          </a:xfrm>
          <a:prstGeom prst="rect">
            <a:avLst/>
          </a:prstGeom>
          <a:solidFill>
            <a:srgbClr val="175A9D"/>
          </a:solidFill>
          <a:ln>
            <a:solidFill>
              <a:srgbClr val="175A9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1152" y="141732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Methodological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1152" y="1728216"/>
            <a:ext cx="4544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regressions may miss nonlinear and classification-based risk patterns.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542032"/>
            <a:ext cx="384048" cy="38404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31152" y="254203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Data-structure issue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1152" y="2852928"/>
            <a:ext cx="4544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early developed targeters have limited within-sample IT variation.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0690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study addresses the gap by combining four indicators with classification, clustering, evaluation and interpretation.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55778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message: the proposal is finance-first; AI/data science is used as the analytical method.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Aim and research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examine the relationship between inflation-targeting monetary policy and financial-stability risk in selected emerging and developed economies from 1995 to 2022, using a data science-based methodology.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" y="2927145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FINANCE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136392"/>
            <a:ext cx="52578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</a:t>
            </a:r>
            <a:r>
              <a:rPr lang="en-US" sz="138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targeting related to financial-stability risk</a:t>
            </a: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380" dirty="0"/>
          </a:p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the </a:t>
            </a:r>
            <a:r>
              <a:rPr lang="en-US" sz="138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differ across emerging and developed economies</a:t>
            </a: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380" dirty="0"/>
          </a:p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</a:t>
            </a:r>
            <a:r>
              <a:rPr lang="en-US" sz="138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indicators show clearer associations</a:t>
            </a: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565392" y="2980309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AI/DATA SCIENCE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65392" y="3136392"/>
            <a:ext cx="50749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classification identify high-risk country-years?</a:t>
            </a:r>
            <a:endParaRPr lang="en-US" sz="1380" dirty="0"/>
          </a:p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clustering reveal financial-stability profiles?</a:t>
            </a:r>
            <a:endParaRPr lang="en-US" sz="1380" dirty="0"/>
          </a:p>
          <a:p>
            <a:pPr marL="139700" indent="-139700">
              <a:buSzPct val="100000"/>
              <a:buChar char="•"/>
            </a:pPr>
            <a:r>
              <a:rPr lang="en-US" sz="138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variables explain the risk patterns?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024128" y="5303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part is not a new topic — it is the method used to study inflation targeting and financial stability.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Brief literature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solidFill>
            <a:srgbClr val="175A9D"/>
          </a:solidFill>
          <a:ln>
            <a:solidFill>
              <a:srgbClr val="175A9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16152" y="14173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targeting 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16152" y="1664418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Bernanke &amp; Mishkin; Mishkin &amp; Schmidt-Hebbel — credibility, transparency and inflation performance.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27889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 stability 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16152" y="3025386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Fazio et al.; Mishra &amp; Dubey — banking stability and spillover effects.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7648" y="1417320"/>
            <a:ext cx="384048" cy="384048"/>
          </a:xfrm>
          <a:prstGeom prst="rect">
            <a:avLst/>
          </a:prstGeom>
          <a:solidFill>
            <a:srgbClr val="D9822B"/>
          </a:solidFill>
          <a:ln>
            <a:solidFill>
              <a:srgbClr val="D982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141732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Cautionary evidence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653785"/>
            <a:ext cx="4818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Fouejieu; Frappa &amp; Mésonnier; Akram &amp; Eitrheim — fragility, credit, housing and asset-price risks.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7648" y="2788920"/>
            <a:ext cx="384048" cy="384048"/>
          </a:xfrm>
          <a:prstGeom prst="rect">
            <a:avLst/>
          </a:prstGeom>
          <a:solidFill>
            <a:srgbClr val="175A9D"/>
          </a:solidFill>
          <a:ln>
            <a:solidFill>
              <a:srgbClr val="175A9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and policy conditions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025385"/>
            <a:ext cx="4818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Fazio et al.; Kim &amp; Mehrotra; Mugrabi et al.; Woodford — institutions, macroprudential policy and flexible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4800600"/>
            <a:ext cx="10058400" cy="0"/>
          </a:xfrm>
          <a:prstGeom prst="line">
            <a:avLst/>
          </a:prstGeom>
          <a:noFill/>
          <a:ln w="15240">
            <a:solidFill>
              <a:srgbClr val="D2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051560" y="5001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conclusion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28523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Inflation targeting is neither uniformly stabilizing nor uniformly destabilizing. Its relationship with financial stability depends on indicator, country type, institutional quality and macroprudential policy.</a:t>
            </a:r>
            <a:endParaRPr lang="en-US" sz="1720" dirty="0"/>
          </a:p>
        </p:txBody>
      </p:sp>
      <p:sp>
        <p:nvSpPr>
          <p:cNvPr id="20" name="Text 18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Conceptual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/mnt/data/Figure_1_Vertical_Data_Science_Framework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86" y="1106038"/>
            <a:ext cx="5255294" cy="57196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3350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STUDY IS FRAMED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1579144"/>
            <a:ext cx="5007084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Inputs: inflation targeting status, country type, institutional quality and policy indicators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financial-stability risk based on four indicators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analysis paths: supervised classification and unsupervised clustering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remains </a:t>
            </a:r>
            <a:r>
              <a:rPr lang="en-US" sz="140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and associative, not causal</a:t>
            </a:r>
            <a:endParaRPr lang="en-US" sz="1400" b="1" dirty="0"/>
          </a:p>
        </p:txBody>
      </p:sp>
      <p:sp>
        <p:nvSpPr>
          <p:cNvPr id="8" name="Text 5"/>
          <p:cNvSpPr/>
          <p:nvPr/>
        </p:nvSpPr>
        <p:spPr>
          <a:xfrm>
            <a:off x="734497" y="37405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STABILITY INDICATORS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4343400"/>
            <a:ext cx="1444752" cy="329184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stability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04288" y="4343400"/>
            <a:ext cx="1243584" cy="329184"/>
          </a:xfrm>
          <a:prstGeom prst="rect">
            <a:avLst/>
          </a:prstGeom>
          <a:solidFill>
            <a:srgbClr val="FFF4E7"/>
          </a:solidFill>
          <a:ln>
            <a:solidFill>
              <a:srgbClr val="FFF4E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growth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4828032"/>
            <a:ext cx="1956816" cy="329184"/>
          </a:xfrm>
          <a:prstGeom prst="rect">
            <a:avLst/>
          </a:prstGeom>
          <a:solidFill>
            <a:srgbClr val="E8F7F6"/>
          </a:solidFill>
          <a:ln>
            <a:solidFill>
              <a:srgbClr val="E8F7F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Exchange-rate volatility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34640" y="4828032"/>
            <a:ext cx="1627632" cy="329184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volatility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3232" y="56509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AI/data science is used as the analytical methodology; the research focus remains inflation targeting and financial stability.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Methodology: how the study can be completed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737360" cy="292608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856232"/>
            <a:ext cx="19202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20 economies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1995–2022 country-years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53512" y="1417320"/>
            <a:ext cx="1737360" cy="292608"/>
          </a:xfrm>
          <a:prstGeom prst="rect">
            <a:avLst/>
          </a:prstGeom>
          <a:solidFill>
            <a:srgbClr val="E8F7F6"/>
          </a:solidFill>
          <a:ln>
            <a:solidFill>
              <a:srgbClr val="E8F7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label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2072" y="1856232"/>
            <a:ext cx="19202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indicators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25–30% high-risk cut-off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30368" y="1417320"/>
            <a:ext cx="1737360" cy="292608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38928" y="1856232"/>
            <a:ext cx="19202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· RF · SVM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07224" y="1417320"/>
            <a:ext cx="1737360" cy="292608"/>
          </a:xfrm>
          <a:prstGeom prst="rect">
            <a:avLst/>
          </a:prstGeom>
          <a:solidFill>
            <a:srgbClr val="E8F7F6"/>
          </a:solidFill>
          <a:ln>
            <a:solidFill>
              <a:srgbClr val="E8F7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15784" y="1856232"/>
            <a:ext cx="19202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· F1 · ROC-AUC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· grouped checks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0" y="1417320"/>
            <a:ext cx="1737360" cy="292608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92640" y="1856232"/>
            <a:ext cx="19202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SHAP/LIME if feasible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82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MODELLING PATHS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3429000"/>
            <a:ext cx="5212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classification: predict high vs lower risk country-years</a:t>
            </a:r>
            <a:endParaRPr lang="en-US" sz="1300" dirty="0"/>
          </a:p>
          <a:p>
            <a:pPr marL="139700" indent="-139700"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clustering: identify financial-stability profiles using K-means + PCA</a:t>
            </a:r>
            <a:endParaRPr lang="en-US" sz="1300" dirty="0"/>
          </a:p>
          <a:p>
            <a:pPr marL="139700" indent="-139700"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control: same-year stability indicators used to create the label will not be used as predictors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2699" y="3244201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INTERPRETATION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9088" y="3429000"/>
            <a:ext cx="49377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country-level data only</a:t>
            </a:r>
            <a:endParaRPr lang="en-US" sz="1300" dirty="0"/>
          </a:p>
          <a:p>
            <a:pPr marL="139700" indent="-139700"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exploratory, predictive and associative</a:t>
            </a:r>
            <a:endParaRPr lang="en-US" sz="1300" dirty="0"/>
          </a:p>
          <a:p>
            <a:pPr marL="139700" indent="-139700"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Small-sample caution and group performance checks will be reported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55955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Tools: Python · pandas · scikit-learn · Jupyter/Colab · GitHub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Expected contribution, timeline and key 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60704"/>
            <a:ext cx="11155680" cy="0"/>
          </a:xfrm>
          <a:prstGeom prst="line">
            <a:avLst/>
          </a:prstGeom>
          <a:noFill/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CONTRIBUTION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52120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Academic: connects inflation-targeting literature with risk classification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Practical: supports macro-financial risk screening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Methodological: reproducible Python workflow with explainability and responsible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320" y="3736495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COMPLETION PATH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1554480" cy="594360"/>
          </a:xfrm>
          <a:prstGeom prst="rect">
            <a:avLst/>
          </a:prstGeom>
          <a:solidFill>
            <a:srgbClr val="E8F7F6"/>
          </a:solidFill>
          <a:ln w="12700">
            <a:solidFill>
              <a:srgbClr val="B6E3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58568" y="4553712"/>
            <a:ext cx="384048" cy="0"/>
          </a:xfrm>
          <a:prstGeom prst="line">
            <a:avLst/>
          </a:prstGeom>
          <a:noFill/>
          <a:ln w="13970">
            <a:solidFill>
              <a:srgbClr val="AEBC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679192" y="4251960"/>
            <a:ext cx="1554480" cy="594360"/>
          </a:xfrm>
          <a:prstGeom prst="rect">
            <a:avLst/>
          </a:prstGeom>
          <a:solidFill>
            <a:srgbClr val="E8F7F6"/>
          </a:solidFill>
          <a:ln w="12700">
            <a:solidFill>
              <a:srgbClr val="B6E3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4553712"/>
            <a:ext cx="384048" cy="0"/>
          </a:xfrm>
          <a:prstGeom prst="line">
            <a:avLst/>
          </a:prstGeom>
          <a:noFill/>
          <a:ln w="13970">
            <a:solidFill>
              <a:srgbClr val="AEBC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672584" y="4251960"/>
            <a:ext cx="155448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5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&amp; screen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4553712"/>
            <a:ext cx="384048" cy="0"/>
          </a:xfrm>
          <a:prstGeom prst="line">
            <a:avLst/>
          </a:prstGeom>
          <a:noFill/>
          <a:ln w="13970">
            <a:solidFill>
              <a:srgbClr val="AEBC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665976" y="4251960"/>
            <a:ext cx="155448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5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&amp; evaluate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38744" y="4553712"/>
            <a:ext cx="384048" cy="0"/>
          </a:xfrm>
          <a:prstGeom prst="line">
            <a:avLst/>
          </a:prstGeom>
          <a:noFill/>
          <a:ln w="13970">
            <a:solidFill>
              <a:srgbClr val="AEBC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659368" y="4251960"/>
            <a:ext cx="155448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5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+ GitHub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0528" y="150322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REFERENCES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1664208"/>
            <a:ext cx="448056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Bernanke &amp; Mishkin (1997)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Mishkin &amp; Schmidt-Hebbel (2007)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Fazio et al. (2015, 2018)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Fouejieu (2017)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Frappa &amp; Mésonnier (2010)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Woodford (2012); Hammond (2012)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Mugrabi et al. (2026); Ngepah et al. (2026)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0528" y="5501711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0352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MBAI 5310G · AI Programming · Prabaseelan Vettivelu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7A85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1664</Words>
  <Application>Microsoft Office PowerPoint</Application>
  <PresentationFormat>Widescreen</PresentationFormat>
  <Paragraphs>228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Ontario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&amp; Research Proposal Presentation</dc:title>
  <dc:subject>MBAI 5310G Stage 3 Final Presentation</dc:subject>
  <dc:creator>Prabaseelan Vettivelu</dc:creator>
  <cp:lastModifiedBy>Prabaseelan Vettivelu</cp:lastModifiedBy>
  <cp:revision>10</cp:revision>
  <dcterms:created xsi:type="dcterms:W3CDTF">2026-06-18T03:17:51Z</dcterms:created>
  <dcterms:modified xsi:type="dcterms:W3CDTF">2026-06-18T18:06:59Z</dcterms:modified>
</cp:coreProperties>
</file>